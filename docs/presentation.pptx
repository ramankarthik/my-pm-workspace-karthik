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Day-7 retention dropped from 48% to 39% after the v2 streak redesign shipped — that's the number driving everything on this slide and everything after it. Across every research source we have — interviews, feedback, competitive research — the same pattern keeps showing up: when a user breaks a streak, the app just resets to zero and says nothing, and that silence is the single clearest driver of this drop. I want you to leave this slide with one thing: this isn't a vague retention problem, it's a specific, well-understood moment in the product where we're losing people. That's what the rest of this deck is about fixing.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we last talked about this, we didn't just keep researching — we ran a real pilot, testing a personalized comeback experience against a control group. What we learned is genuinely encouraging: the treatment group showed a 30-point lift in Day-7 retention and a 14-point lift in Day-30, and that lift held up across multiple touchpoints rather than fading after one send. I also want to flag something on purpose: we caught a real data-quality issue in how the two test groups were assigned, and I'm bringing that to you rather than hiding it, because I want you to trust the number I eventually give you. The reason this is urgent now is simple — every week we don't act, another cohort of new users lands at the declining baseline instead of getting the experience that produced this lift.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we're proposing is a personalized comeback experience: when someone breaks a streak, instead of a silent reset, they see their progress acknowledged and a real way back in. I want to be equally clear about what this is not — it is not a fix for notification tone or frequency, which is a real issue but a separate workstream we're tracking on its own, so we don't want this deck to get pulled into that conversation. And it is not a proposal to scale based on the raw pilot number as it stands today — I'm going to show you why in a minute, and what we want to do about it before we commit to a specific figure.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data behind the recommendation: 76% Day-7 retention in the treatment group versus 46% in control, and 36% versus 22% at Day-30, with engagement climbing from 28% to 56% across the test while control stayed flat the whole time. But I don't want this to just be a numbers slide — this matches exactly what we heard directly from users before we ever built anything. Tom told us, in his own words, that when he lost his streak there was no way back and he simply gave up, and that a competitor's streak freeze is what felt forgiving enough to switch to. Priya's experience shows the flip side — acknowledgment and celebration of progress is literally what made the habit stick for her. And this isn't just a concept slide — we have a working, tested prototype behind these numbers, not just a plan on paper.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straightforward with you: we don't have a full rollout timeline locked yet, and I'd rather tell you that directly than paper over it. What we do have is a clear next set of steps — first, we correct the pilot analysis for the data-quality issue I flagged a minute ago, then we hit a decision checkpoint to confirm the real effect size, and only then do we move to a scaled rollout with a timeline we set together, today, as part of this conversation. The two risks I want you holding in your head are these: if we present the raw pilot number without correcting it, we risk committing to a figure that doesn't hold up at scale; and if we wait too long to decide, we keep losing retention every single week in the meantime.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what I actually need from you: approval to move into a larger, corrected rollout of this comeback experience, and a decision on timeline so we can slot the corrected analysis and the scale-up directly into the sprint plan. I'm not asking you to sign off on the 76% number today — I'm asking you to greenlight the path that gets us a number we can both stand behind. If you need more detail on any of this after today, I'm glad to follow up async, but the one decision I need before we leave this room is whether we move forward and by when.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E33"/>
        </a:solidFill>
        <a:effectLst/>
      </p:bgPr>
    </p:bg>
    <p:spTree>
      <p:nvGrpSpPr>
        <p:cNvPr id="1" name=""/>
        <p:cNvGrpSpPr/>
        <p:nvPr/>
      </p:nvGrpSpPr>
      <p:grpSpPr/>
      <p:sp>
        <p:nvSpPr>
          <p:cNvPr id="2" name="TextBox 1"/>
          <p:cNvSpPr txBox="1"/>
          <p:nvPr/>
        </p:nvSpPr>
        <p:spPr>
          <a:xfrm>
            <a:off x="640080" y="502920"/>
            <a:ext cx="5486400" cy="365760"/>
          </a:xfrm>
          <a:prstGeom prst="rect">
            <a:avLst/>
          </a:prstGeom>
          <a:noFill/>
        </p:spPr>
        <p:txBody>
          <a:bodyPr wrap="square" anchor="t" lIns="0" rIns="0" tIns="0" bIns="0">
            <a:spAutoFit/>
          </a:bodyPr>
          <a:lstStyle/>
          <a:p>
            <a:pPr algn="l">
              <a:lnSpc>
                <a:spcPct val="100000"/>
              </a:lnSpc>
            </a:pPr>
            <a:r>
              <a:rPr sz="1400" b="1" i="0">
                <a:solidFill>
                  <a:srgbClr val="02C39A"/>
                </a:solidFill>
                <a:latin typeface="Calibri"/>
              </a:rPr>
              <a:t>STREAKLY · COMEBACK EXPERIENCE · QUARTERLY REVIEW</a:t>
            </a:r>
          </a:p>
        </p:txBody>
      </p:sp>
      <p:sp>
        <p:nvSpPr>
          <p:cNvPr id="3" name="TextBox 2"/>
          <p:cNvSpPr txBox="1"/>
          <p:nvPr/>
        </p:nvSpPr>
        <p:spPr>
          <a:xfrm>
            <a:off x="640080" y="1005840"/>
            <a:ext cx="8229600" cy="640080"/>
          </a:xfrm>
          <a:prstGeom prst="rect">
            <a:avLst/>
          </a:prstGeom>
          <a:noFill/>
        </p:spPr>
        <p:txBody>
          <a:bodyPr wrap="square" anchor="t" lIns="0" rIns="0" tIns="0" bIns="0">
            <a:spAutoFit/>
          </a:bodyPr>
          <a:lstStyle/>
          <a:p>
            <a:pPr algn="l">
              <a:lnSpc>
                <a:spcPct val="100000"/>
              </a:lnSpc>
            </a:pPr>
            <a:r>
              <a:rPr sz="4000" b="1" i="0">
                <a:solidFill>
                  <a:srgbClr val="FFFFFF"/>
                </a:solidFill>
                <a:latin typeface="Cambria"/>
              </a:rPr>
              <a:t>The Problem</a:t>
            </a:r>
          </a:p>
        </p:txBody>
      </p:sp>
      <p:sp>
        <p:nvSpPr>
          <p:cNvPr id="4" name="TextBox 3"/>
          <p:cNvSpPr txBox="1"/>
          <p:nvPr/>
        </p:nvSpPr>
        <p:spPr>
          <a:xfrm>
            <a:off x="640080" y="2011680"/>
            <a:ext cx="8686800" cy="1371600"/>
          </a:xfrm>
          <a:prstGeom prst="rect">
            <a:avLst/>
          </a:prstGeom>
          <a:noFill/>
        </p:spPr>
        <p:txBody>
          <a:bodyPr wrap="square" anchor="t" lIns="0" rIns="0" tIns="0" bIns="0">
            <a:spAutoFit/>
          </a:bodyPr>
          <a:lstStyle/>
          <a:p>
            <a:pPr algn="l">
              <a:lnSpc>
                <a:spcPct val="100000"/>
              </a:lnSpc>
            </a:pPr>
            <a:r>
              <a:rPr sz="6400" b="1" i="0">
                <a:solidFill>
                  <a:srgbClr val="FFFFFF"/>
                </a:solidFill>
                <a:latin typeface="Cambria"/>
              </a:rPr>
              <a:t>48%  →  39%</a:t>
            </a:r>
          </a:p>
        </p:txBody>
      </p:sp>
      <p:sp>
        <p:nvSpPr>
          <p:cNvPr id="5" name="TextBox 4"/>
          <p:cNvSpPr txBox="1"/>
          <p:nvPr/>
        </p:nvSpPr>
        <p:spPr>
          <a:xfrm>
            <a:off x="685800" y="3429000"/>
            <a:ext cx="5486400" cy="457200"/>
          </a:xfrm>
          <a:prstGeom prst="rect">
            <a:avLst/>
          </a:prstGeom>
          <a:noFill/>
        </p:spPr>
        <p:txBody>
          <a:bodyPr wrap="square" anchor="t" lIns="0" rIns="0" tIns="0" bIns="0">
            <a:spAutoFit/>
          </a:bodyPr>
          <a:lstStyle/>
          <a:p>
            <a:pPr algn="l">
              <a:lnSpc>
                <a:spcPct val="100000"/>
              </a:lnSpc>
            </a:pPr>
            <a:r>
              <a:rPr sz="1600" b="0" i="0">
                <a:solidFill>
                  <a:srgbClr val="C9E6E3"/>
                </a:solidFill>
                <a:latin typeface="Calibri"/>
              </a:rPr>
              <a:t>Day-7 retention, since the v2 streak redesign</a:t>
            </a:r>
          </a:p>
        </p:txBody>
      </p:sp>
      <p:sp>
        <p:nvSpPr>
          <p:cNvPr id="6" name="Rounded Rectangle 5"/>
          <p:cNvSpPr/>
          <p:nvPr/>
        </p:nvSpPr>
        <p:spPr>
          <a:xfrm>
            <a:off x="640080" y="4206240"/>
            <a:ext cx="8595360" cy="1737360"/>
          </a:xfrm>
          <a:prstGeom prst="roundRect">
            <a:avLst>
              <a:gd name="adj" fmla="val 6000"/>
            </a:avLst>
          </a:prstGeom>
          <a:solidFill>
            <a:srgbClr val="114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434840"/>
            <a:ext cx="457200" cy="457200"/>
          </a:xfrm>
          <a:prstGeom prst="rect">
            <a:avLst/>
          </a:prstGeom>
          <a:noFill/>
        </p:spPr>
        <p:txBody>
          <a:bodyPr wrap="square" anchor="t" lIns="0" rIns="0" tIns="0" bIns="0">
            <a:spAutoFit/>
          </a:bodyPr>
          <a:lstStyle/>
          <a:p>
            <a:pPr algn="l">
              <a:lnSpc>
                <a:spcPct val="100000"/>
              </a:lnSpc>
            </a:pPr>
            <a:r>
              <a:rPr sz="2600" b="1" i="0">
                <a:solidFill>
                  <a:srgbClr val="02C39A"/>
                </a:solidFill>
                <a:latin typeface="Calibri"/>
              </a:rPr>
              <a:t>▸</a:t>
            </a:r>
          </a:p>
        </p:txBody>
      </p:sp>
      <p:sp>
        <p:nvSpPr>
          <p:cNvPr id="8" name="TextBox 7"/>
          <p:cNvSpPr txBox="1"/>
          <p:nvPr/>
        </p:nvSpPr>
        <p:spPr>
          <a:xfrm>
            <a:off x="1371600" y="4434840"/>
            <a:ext cx="7498079" cy="1280160"/>
          </a:xfrm>
          <a:prstGeom prst="rect">
            <a:avLst/>
          </a:prstGeom>
          <a:noFill/>
        </p:spPr>
        <p:txBody>
          <a:bodyPr wrap="square" anchor="t" lIns="0" rIns="0" tIns="0" bIns="0">
            <a:spAutoFit/>
          </a:bodyPr>
          <a:lstStyle/>
          <a:p>
            <a:pPr algn="l">
              <a:lnSpc>
                <a:spcPct val="125000"/>
              </a:lnSpc>
            </a:pPr>
            <a:r>
              <a:rPr sz="1800" b="0" i="0">
                <a:solidFill>
                  <a:srgbClr val="FFFFFF"/>
                </a:solidFill>
                <a:latin typeface="Calibri"/>
              </a:rPr>
              <a:t>Breaking a streak currently reads as final, not recoverable — a silent reset with no acknowledgment or way back is the clearest, most-repeated driver of this drop across every research source we have.</a:t>
            </a:r>
          </a:p>
        </p:txBody>
      </p:sp>
      <p:sp>
        <p:nvSpPr>
          <p:cNvPr id="9" name="Oval 8"/>
          <p:cNvSpPr/>
          <p:nvPr/>
        </p:nvSpPr>
        <p:spPr>
          <a:xfrm>
            <a:off x="9784080" y="2148840"/>
            <a:ext cx="146304" cy="146304"/>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241280" y="2468880"/>
            <a:ext cx="146304" cy="146304"/>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698480" y="2834640"/>
            <a:ext cx="146304" cy="146304"/>
          </a:xfrm>
          <a:prstGeom prst="ellipse">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155680" y="3246120"/>
            <a:ext cx="146304" cy="146304"/>
          </a:xfrm>
          <a:prstGeom prst="ellipse">
            <a:avLst/>
          </a:prstGeom>
          <a:solidFill>
            <a:srgbClr val="E06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368735" y="6400800"/>
            <a:ext cx="548640" cy="320040"/>
          </a:xfrm>
          <a:prstGeom prst="rect">
            <a:avLst/>
          </a:prstGeom>
          <a:noFill/>
        </p:spPr>
        <p:txBody>
          <a:bodyPr wrap="square" anchor="t" lIns="0" rIns="0" tIns="0" bIns="0">
            <a:spAutoFit/>
          </a:bodyPr>
          <a:lstStyle/>
          <a:p>
            <a:pPr algn="r">
              <a:lnSpc>
                <a:spcPct val="100000"/>
              </a:lnSpc>
            </a:pPr>
            <a:r>
              <a:rPr sz="1100" b="0" i="0">
                <a:solidFill>
                  <a:srgbClr val="FFFFFF"/>
                </a:solidFill>
                <a:latin typeface="Calibri"/>
              </a:rPr>
              <a:t>1 /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486400" cy="365760"/>
          </a:xfrm>
          <a:prstGeom prst="rect">
            <a:avLst/>
          </a:prstGeom>
          <a:noFill/>
        </p:spPr>
        <p:txBody>
          <a:bodyPr wrap="square" anchor="t" lIns="0" rIns="0" tIns="0" bIns="0">
            <a:spAutoFit/>
          </a:bodyPr>
          <a:lstStyle/>
          <a:p>
            <a:pPr algn="l">
              <a:lnSpc>
                <a:spcPct val="100000"/>
              </a:lnSpc>
            </a:pPr>
            <a:r>
              <a:rPr sz="1400" b="1" i="0">
                <a:solidFill>
                  <a:srgbClr val="02C39A"/>
                </a:solidFill>
                <a:latin typeface="Calibri"/>
              </a:rPr>
              <a:t>WHY NOW</a:t>
            </a:r>
          </a:p>
        </p:txBody>
      </p:sp>
      <p:sp>
        <p:nvSpPr>
          <p:cNvPr id="3" name="TextBox 2"/>
          <p:cNvSpPr txBox="1"/>
          <p:nvPr/>
        </p:nvSpPr>
        <p:spPr>
          <a:xfrm>
            <a:off x="640080" y="1051560"/>
            <a:ext cx="8229600" cy="640080"/>
          </a:xfrm>
          <a:prstGeom prst="rect">
            <a:avLst/>
          </a:prstGeom>
          <a:noFill/>
        </p:spPr>
        <p:txBody>
          <a:bodyPr wrap="square" anchor="t" lIns="0" rIns="0" tIns="0" bIns="0">
            <a:spAutoFit/>
          </a:bodyPr>
          <a:lstStyle/>
          <a:p>
            <a:pPr algn="l">
              <a:lnSpc>
                <a:spcPct val="100000"/>
              </a:lnSpc>
            </a:pPr>
            <a:r>
              <a:rPr sz="3200" b="1" i="0">
                <a:solidFill>
                  <a:srgbClr val="1B2A2D"/>
                </a:solidFill>
                <a:latin typeface="Cambria"/>
              </a:rPr>
              <a:t>What Changed, What We Learned</a:t>
            </a:r>
          </a:p>
        </p:txBody>
      </p:sp>
      <p:sp>
        <p:nvSpPr>
          <p:cNvPr id="4" name="Rounded Rectangle 3"/>
          <p:cNvSpPr/>
          <p:nvPr/>
        </p:nvSpPr>
        <p:spPr>
          <a:xfrm>
            <a:off x="640080" y="1965960"/>
            <a:ext cx="5212080" cy="3383280"/>
          </a:xfrm>
          <a:prstGeom prst="roundRect">
            <a:avLst>
              <a:gd name="adj" fmla="val 4500"/>
            </a:avLst>
          </a:prstGeom>
          <a:solidFill>
            <a:srgbClr val="F2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057400"/>
            <a:ext cx="457200" cy="4572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57400"/>
            <a:ext cx="457200" cy="457200"/>
          </a:xfrm>
          <a:prstGeom prst="rect">
            <a:avLst/>
          </a:prstGeom>
          <a:noFill/>
        </p:spPr>
        <p:txBody>
          <a:bodyPr wrap="square" anchor="ctr" lIns="0" rIns="0" tIns="0" bIns="0">
            <a:spAutoFit/>
          </a:bodyPr>
          <a:lstStyle/>
          <a:p>
            <a:pPr algn="ctr">
              <a:lnSpc>
                <a:spcPct val="100000"/>
              </a:lnSpc>
            </a:pPr>
            <a:r>
              <a:rPr sz="2000" b="1" i="0">
                <a:solidFill>
                  <a:srgbClr val="FFFFFF"/>
                </a:solidFill>
                <a:latin typeface="Calibri"/>
              </a:rPr>
              <a:t>1</a:t>
            </a:r>
          </a:p>
        </p:txBody>
      </p:sp>
      <p:sp>
        <p:nvSpPr>
          <p:cNvPr id="7" name="TextBox 6"/>
          <p:cNvSpPr txBox="1"/>
          <p:nvPr/>
        </p:nvSpPr>
        <p:spPr>
          <a:xfrm>
            <a:off x="1554480" y="2084831"/>
            <a:ext cx="4114800" cy="411480"/>
          </a:xfrm>
          <a:prstGeom prst="rect">
            <a:avLst/>
          </a:prstGeom>
          <a:noFill/>
        </p:spPr>
        <p:txBody>
          <a:bodyPr wrap="square" anchor="t" lIns="0" rIns="0" tIns="0" bIns="0">
            <a:spAutoFit/>
          </a:bodyPr>
          <a:lstStyle/>
          <a:p>
            <a:pPr algn="l">
              <a:lnSpc>
                <a:spcPct val="100000"/>
              </a:lnSpc>
            </a:pPr>
            <a:r>
              <a:rPr sz="1800" b="1" i="0">
                <a:solidFill>
                  <a:srgbClr val="1B2A2D"/>
                </a:solidFill>
                <a:latin typeface="Cambria"/>
              </a:rPr>
              <a:t>What Changed</a:t>
            </a:r>
          </a:p>
        </p:txBody>
      </p:sp>
      <p:sp>
        <p:nvSpPr>
          <p:cNvPr id="8" name="TextBox 7"/>
          <p:cNvSpPr txBox="1"/>
          <p:nvPr/>
        </p:nvSpPr>
        <p:spPr>
          <a:xfrm>
            <a:off x="914400" y="2697480"/>
            <a:ext cx="4617720" cy="731520"/>
          </a:xfrm>
          <a:prstGeom prst="rect">
            <a:avLst/>
          </a:prstGeom>
          <a:noFill/>
        </p:spPr>
        <p:txBody>
          <a:bodyPr wrap="square" anchor="t" lIns="0" rIns="0" tIns="0" bIns="0">
            <a:spAutoFit/>
          </a:bodyPr>
          <a:lstStyle/>
          <a:p>
            <a:pPr algn="l">
              <a:lnSpc>
                <a:spcPct val="120000"/>
              </a:lnSpc>
            </a:pPr>
            <a:r>
              <a:rPr sz="1400" b="0" i="0">
                <a:solidFill>
                  <a:srgbClr val="1B2A2D"/>
                </a:solidFill>
                <a:latin typeface="Calibri"/>
              </a:rPr>
              <a:t>We moved from research to a real pilot: a personalized comeback experience, tested against a control group.</a:t>
            </a:r>
          </a:p>
        </p:txBody>
      </p:sp>
      <p:sp>
        <p:nvSpPr>
          <p:cNvPr id="9" name="TextBox 8"/>
          <p:cNvSpPr txBox="1"/>
          <p:nvPr/>
        </p:nvSpPr>
        <p:spPr>
          <a:xfrm>
            <a:off x="914400" y="3566160"/>
            <a:ext cx="4114800" cy="320040"/>
          </a:xfrm>
          <a:prstGeom prst="rect">
            <a:avLst/>
          </a:prstGeom>
          <a:noFill/>
        </p:spPr>
        <p:txBody>
          <a:bodyPr wrap="square" anchor="t" lIns="0" rIns="0" tIns="0" bIns="0">
            <a:spAutoFit/>
          </a:bodyPr>
          <a:lstStyle/>
          <a:p>
            <a:pPr algn="l">
              <a:lnSpc>
                <a:spcPct val="100000"/>
              </a:lnSpc>
            </a:pPr>
            <a:r>
              <a:rPr sz="1500" b="1" i="0">
                <a:solidFill>
                  <a:srgbClr val="028090"/>
                </a:solidFill>
                <a:latin typeface="Calibri"/>
              </a:rPr>
              <a:t>What We Learned</a:t>
            </a:r>
          </a:p>
        </p:txBody>
      </p:sp>
      <p:sp>
        <p:nvSpPr>
          <p:cNvPr id="10" name="TextBox 9"/>
          <p:cNvSpPr txBox="1"/>
          <p:nvPr/>
        </p:nvSpPr>
        <p:spPr>
          <a:xfrm>
            <a:off x="914400" y="3931920"/>
            <a:ext cx="4663440" cy="1280160"/>
          </a:xfrm>
          <a:prstGeom prst="rect">
            <a:avLst/>
          </a:prstGeom>
          <a:noFill/>
        </p:spPr>
        <p:txBody>
          <a:bodyPr wrap="square" lIns="0" rIns="0" tIns="0" bIns="0">
            <a:spAutoFit/>
          </a:bodyPr>
          <a:lstStyle/>
          <a:p>
            <a:pPr>
              <a:lnSpc>
                <a:spcPct val="115000"/>
              </a:lnSpc>
              <a:spcAft>
                <a:spcPts val="600"/>
              </a:spcAft>
            </a:pPr>
            <a:r>
              <a:rPr sz="1350">
                <a:solidFill>
                  <a:srgbClr val="1B2A2D"/>
                </a:solidFill>
                <a:latin typeface="Calibri"/>
              </a:rPr>
              <a:t>—  Strong signal: +30 pts Day-7, +14 pts Day-30 in treatment</a:t>
            </a:r>
          </a:p>
          <a:p>
            <a:pPr>
              <a:lnSpc>
                <a:spcPct val="115000"/>
              </a:lnSpc>
              <a:spcAft>
                <a:spcPts val="600"/>
              </a:spcAft>
            </a:pPr>
            <a:r>
              <a:rPr sz="1350">
                <a:solidFill>
                  <a:srgbClr val="1B2A2D"/>
                </a:solidFill>
                <a:latin typeface="Calibri"/>
              </a:rPr>
              <a:t>—  Lift is sustained across sends, not a one-time spike</a:t>
            </a:r>
          </a:p>
          <a:p>
            <a:pPr>
              <a:lnSpc>
                <a:spcPct val="115000"/>
              </a:lnSpc>
              <a:spcAft>
                <a:spcPts val="600"/>
              </a:spcAft>
            </a:pPr>
            <a:r>
              <a:rPr sz="1350">
                <a:solidFill>
                  <a:srgbClr val="1B2A2D"/>
                </a:solidFill>
                <a:latin typeface="Calibri"/>
              </a:rPr>
              <a:t>—  Caught a real data-quality issue before it could distort a decision</a:t>
            </a:r>
          </a:p>
        </p:txBody>
      </p:sp>
      <p:sp>
        <p:nvSpPr>
          <p:cNvPr id="11" name="Rounded Rectangle 10"/>
          <p:cNvSpPr/>
          <p:nvPr/>
        </p:nvSpPr>
        <p:spPr>
          <a:xfrm>
            <a:off x="6080760" y="1965960"/>
            <a:ext cx="5486400" cy="3383280"/>
          </a:xfrm>
          <a:prstGeom prst="roundRect">
            <a:avLst>
              <a:gd name="adj" fmla="val 45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103120"/>
            <a:ext cx="4846320" cy="365760"/>
          </a:xfrm>
          <a:prstGeom prst="rect">
            <a:avLst/>
          </a:prstGeom>
          <a:noFill/>
        </p:spPr>
        <p:txBody>
          <a:bodyPr wrap="square" anchor="t" lIns="0" rIns="0" tIns="0" bIns="0">
            <a:spAutoFit/>
          </a:bodyPr>
          <a:lstStyle/>
          <a:p>
            <a:pPr algn="l">
              <a:lnSpc>
                <a:spcPct val="100000"/>
              </a:lnSpc>
            </a:pPr>
            <a:r>
              <a:rPr sz="1400" b="1" i="0">
                <a:solidFill>
                  <a:srgbClr val="02C39A"/>
                </a:solidFill>
                <a:latin typeface="Calibri"/>
              </a:rPr>
              <a:t>WHY NOW</a:t>
            </a:r>
          </a:p>
        </p:txBody>
      </p:sp>
      <p:sp>
        <p:nvSpPr>
          <p:cNvPr id="13" name="TextBox 12"/>
          <p:cNvSpPr txBox="1"/>
          <p:nvPr/>
        </p:nvSpPr>
        <p:spPr>
          <a:xfrm>
            <a:off x="6400800" y="2560320"/>
            <a:ext cx="4846320" cy="2377440"/>
          </a:xfrm>
          <a:prstGeom prst="rect">
            <a:avLst/>
          </a:prstGeom>
          <a:noFill/>
        </p:spPr>
        <p:txBody>
          <a:bodyPr wrap="square" anchor="t" lIns="0" rIns="0" tIns="0" bIns="0">
            <a:spAutoFit/>
          </a:bodyPr>
          <a:lstStyle/>
          <a:p>
            <a:pPr algn="l">
              <a:lnSpc>
                <a:spcPct val="130000"/>
              </a:lnSpc>
            </a:pPr>
            <a:r>
              <a:rPr sz="2200" b="0" i="0">
                <a:solidFill>
                  <a:srgbClr val="FFFFFF"/>
                </a:solidFill>
                <a:latin typeface="Cambria"/>
              </a:rPr>
              <a:t>Every week without action, new cohorts keep landing at the declining baseline instead of the lift we saw in the pilot.</a:t>
            </a:r>
          </a:p>
        </p:txBody>
      </p:sp>
      <p:sp>
        <p:nvSpPr>
          <p:cNvPr id="14" name="TextBox 13"/>
          <p:cNvSpPr txBox="1"/>
          <p:nvPr/>
        </p:nvSpPr>
        <p:spPr>
          <a:xfrm>
            <a:off x="11368735" y="6400800"/>
            <a:ext cx="548640" cy="320040"/>
          </a:xfrm>
          <a:prstGeom prst="rect">
            <a:avLst/>
          </a:prstGeom>
          <a:noFill/>
        </p:spPr>
        <p:txBody>
          <a:bodyPr wrap="square" anchor="t" lIns="0" rIns="0" tIns="0" bIns="0">
            <a:spAutoFit/>
          </a:bodyPr>
          <a:lstStyle/>
          <a:p>
            <a:pPr algn="r">
              <a:lnSpc>
                <a:spcPct val="100000"/>
              </a:lnSpc>
            </a:pPr>
            <a:r>
              <a:rPr sz="1100" b="0" i="0">
                <a:solidFill>
                  <a:srgbClr val="5C7477"/>
                </a:solidFill>
                <a:latin typeface="Calibri"/>
              </a:rP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486400" cy="365760"/>
          </a:xfrm>
          <a:prstGeom prst="rect">
            <a:avLst/>
          </a:prstGeom>
          <a:noFill/>
        </p:spPr>
        <p:txBody>
          <a:bodyPr wrap="square" anchor="t" lIns="0" rIns="0" tIns="0" bIns="0">
            <a:spAutoFit/>
          </a:bodyPr>
          <a:lstStyle/>
          <a:p>
            <a:pPr algn="l">
              <a:lnSpc>
                <a:spcPct val="100000"/>
              </a:lnSpc>
            </a:pPr>
            <a:r>
              <a:rPr sz="1400" b="1" i="0">
                <a:solidFill>
                  <a:srgbClr val="02C39A"/>
                </a:solidFill>
                <a:latin typeface="Calibri"/>
              </a:rPr>
              <a:t>THE PROPOSAL</a:t>
            </a:r>
          </a:p>
        </p:txBody>
      </p:sp>
      <p:sp>
        <p:nvSpPr>
          <p:cNvPr id="3" name="TextBox 2"/>
          <p:cNvSpPr txBox="1"/>
          <p:nvPr/>
        </p:nvSpPr>
        <p:spPr>
          <a:xfrm>
            <a:off x="640080" y="1051560"/>
            <a:ext cx="8229600" cy="640080"/>
          </a:xfrm>
          <a:prstGeom prst="rect">
            <a:avLst/>
          </a:prstGeom>
          <a:noFill/>
        </p:spPr>
        <p:txBody>
          <a:bodyPr wrap="square" anchor="t" lIns="0" rIns="0" tIns="0" bIns="0">
            <a:spAutoFit/>
          </a:bodyPr>
          <a:lstStyle/>
          <a:p>
            <a:pPr algn="l">
              <a:lnSpc>
                <a:spcPct val="100000"/>
              </a:lnSpc>
            </a:pPr>
            <a:r>
              <a:rPr sz="3200" b="1" i="0">
                <a:solidFill>
                  <a:srgbClr val="1B2A2D"/>
                </a:solidFill>
                <a:latin typeface="Cambria"/>
              </a:rPr>
              <a:t>What It Is — And What It Isn't</a:t>
            </a:r>
          </a:p>
        </p:txBody>
      </p:sp>
      <p:sp>
        <p:nvSpPr>
          <p:cNvPr id="4" name="Rounded Rectangle 3"/>
          <p:cNvSpPr/>
          <p:nvPr/>
        </p:nvSpPr>
        <p:spPr>
          <a:xfrm>
            <a:off x="640080" y="1783080"/>
            <a:ext cx="5349240" cy="3794760"/>
          </a:xfrm>
          <a:prstGeom prst="roundRect">
            <a:avLst>
              <a:gd name="adj" fmla="val 4500"/>
            </a:avLst>
          </a:prstGeom>
          <a:solidFill>
            <a:srgbClr val="F2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057400"/>
            <a:ext cx="411480" cy="411480"/>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57400"/>
            <a:ext cx="411480" cy="411480"/>
          </a:xfrm>
          <a:prstGeom prst="rect">
            <a:avLst/>
          </a:prstGeom>
          <a:noFill/>
        </p:spPr>
        <p:txBody>
          <a:bodyPr wrap="square" anchor="ctr" lIns="0" rIns="0" tIns="0" bIns="0">
            <a:spAutoFit/>
          </a:bodyPr>
          <a:lstStyle/>
          <a:p>
            <a:pPr algn="ctr">
              <a:lnSpc>
                <a:spcPct val="100000"/>
              </a:lnSpc>
            </a:pPr>
            <a:r>
              <a:rPr sz="2000" b="1" i="0">
                <a:solidFill>
                  <a:srgbClr val="FFFFFF"/>
                </a:solidFill>
                <a:latin typeface="Calibri"/>
              </a:rPr>
              <a:t>✓</a:t>
            </a:r>
          </a:p>
        </p:txBody>
      </p:sp>
      <p:sp>
        <p:nvSpPr>
          <p:cNvPr id="7" name="TextBox 6"/>
          <p:cNvSpPr txBox="1"/>
          <p:nvPr/>
        </p:nvSpPr>
        <p:spPr>
          <a:xfrm>
            <a:off x="1508760" y="2075688"/>
            <a:ext cx="4114800" cy="411480"/>
          </a:xfrm>
          <a:prstGeom prst="rect">
            <a:avLst/>
          </a:prstGeom>
          <a:noFill/>
        </p:spPr>
        <p:txBody>
          <a:bodyPr wrap="square" anchor="t" lIns="0" rIns="0" tIns="0" bIns="0">
            <a:spAutoFit/>
          </a:bodyPr>
          <a:lstStyle/>
          <a:p>
            <a:pPr algn="l">
              <a:lnSpc>
                <a:spcPct val="100000"/>
              </a:lnSpc>
            </a:pPr>
            <a:r>
              <a:rPr sz="1800" b="1" i="0">
                <a:solidFill>
                  <a:srgbClr val="1B2A2D"/>
                </a:solidFill>
                <a:latin typeface="Cambria"/>
              </a:rPr>
              <a:t>What It Is</a:t>
            </a:r>
          </a:p>
        </p:txBody>
      </p:sp>
      <p:sp>
        <p:nvSpPr>
          <p:cNvPr id="8" name="TextBox 7"/>
          <p:cNvSpPr txBox="1"/>
          <p:nvPr/>
        </p:nvSpPr>
        <p:spPr>
          <a:xfrm>
            <a:off x="914400" y="2697480"/>
            <a:ext cx="4754880" cy="2651760"/>
          </a:xfrm>
          <a:prstGeom prst="rect">
            <a:avLst/>
          </a:prstGeom>
          <a:noFill/>
        </p:spPr>
        <p:txBody>
          <a:bodyPr wrap="square" anchor="t" lIns="0" rIns="0" tIns="0" bIns="0">
            <a:spAutoFit/>
          </a:bodyPr>
          <a:lstStyle/>
          <a:p>
            <a:pPr algn="l">
              <a:lnSpc>
                <a:spcPct val="130000"/>
              </a:lnSpc>
            </a:pPr>
            <a:r>
              <a:rPr sz="1500" b="0" i="0">
                <a:solidFill>
                  <a:srgbClr val="1B2A2D"/>
                </a:solidFill>
                <a:latin typeface="Calibri"/>
              </a:rPr>
              <a:t>A personalized comeback experience — acknowledging a user's prior progress and offering a real way back in — replacing the current silent reset.</a:t>
            </a:r>
          </a:p>
        </p:txBody>
      </p:sp>
      <p:sp>
        <p:nvSpPr>
          <p:cNvPr id="9" name="Rounded Rectangle 8"/>
          <p:cNvSpPr/>
          <p:nvPr/>
        </p:nvSpPr>
        <p:spPr>
          <a:xfrm>
            <a:off x="6217920" y="1783080"/>
            <a:ext cx="5349240" cy="3794760"/>
          </a:xfrm>
          <a:prstGeom prst="roundRect">
            <a:avLst>
              <a:gd name="adj" fmla="val 4500"/>
            </a:avLst>
          </a:prstGeom>
          <a:solidFill>
            <a:srgbClr val="F2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2057400"/>
            <a:ext cx="411480" cy="411480"/>
          </a:xfrm>
          <a:prstGeom prst="ellipse">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057400"/>
            <a:ext cx="411480" cy="411480"/>
          </a:xfrm>
          <a:prstGeom prst="rect">
            <a:avLst/>
          </a:prstGeom>
          <a:noFill/>
        </p:spPr>
        <p:txBody>
          <a:bodyPr wrap="square" anchor="ctr" lIns="0" rIns="0" tIns="0" bIns="0">
            <a:spAutoFit/>
          </a:bodyPr>
          <a:lstStyle/>
          <a:p>
            <a:pPr algn="ctr">
              <a:lnSpc>
                <a:spcPct val="100000"/>
              </a:lnSpc>
            </a:pPr>
            <a:r>
              <a:rPr sz="1800" b="1" i="0">
                <a:solidFill>
                  <a:srgbClr val="FFFFFF"/>
                </a:solidFill>
                <a:latin typeface="Calibri"/>
              </a:rPr>
              <a:t>✗</a:t>
            </a:r>
          </a:p>
        </p:txBody>
      </p:sp>
      <p:sp>
        <p:nvSpPr>
          <p:cNvPr id="12" name="TextBox 11"/>
          <p:cNvSpPr txBox="1"/>
          <p:nvPr/>
        </p:nvSpPr>
        <p:spPr>
          <a:xfrm>
            <a:off x="7086600" y="2075688"/>
            <a:ext cx="4114800" cy="411480"/>
          </a:xfrm>
          <a:prstGeom prst="rect">
            <a:avLst/>
          </a:prstGeom>
          <a:noFill/>
        </p:spPr>
        <p:txBody>
          <a:bodyPr wrap="square" anchor="t" lIns="0" rIns="0" tIns="0" bIns="0">
            <a:spAutoFit/>
          </a:bodyPr>
          <a:lstStyle/>
          <a:p>
            <a:pPr algn="l">
              <a:lnSpc>
                <a:spcPct val="100000"/>
              </a:lnSpc>
            </a:pPr>
            <a:r>
              <a:rPr sz="1800" b="1" i="0">
                <a:solidFill>
                  <a:srgbClr val="1B2A2D"/>
                </a:solidFill>
                <a:latin typeface="Cambria"/>
              </a:rPr>
              <a:t>What It Isn't</a:t>
            </a:r>
          </a:p>
        </p:txBody>
      </p:sp>
      <p:sp>
        <p:nvSpPr>
          <p:cNvPr id="13" name="TextBox 12"/>
          <p:cNvSpPr txBox="1"/>
          <p:nvPr/>
        </p:nvSpPr>
        <p:spPr>
          <a:xfrm>
            <a:off x="6492240" y="2697480"/>
            <a:ext cx="4754880" cy="2651760"/>
          </a:xfrm>
          <a:prstGeom prst="rect">
            <a:avLst/>
          </a:prstGeom>
          <a:noFill/>
        </p:spPr>
        <p:txBody>
          <a:bodyPr wrap="square" lIns="0" rIns="0" tIns="0" bIns="0">
            <a:spAutoFit/>
          </a:bodyPr>
          <a:lstStyle/>
          <a:p>
            <a:pPr>
              <a:lnSpc>
                <a:spcPct val="115000"/>
              </a:lnSpc>
              <a:spcAft>
                <a:spcPts val="1400"/>
              </a:spcAft>
            </a:pPr>
            <a:r>
              <a:rPr sz="1500">
                <a:solidFill>
                  <a:srgbClr val="1B2A2D"/>
                </a:solidFill>
                <a:latin typeface="Calibri"/>
              </a:rPr>
              <a:t>•  Not a fix for notification tone or cadence — tracked as a separate workstream</a:t>
            </a:r>
          </a:p>
          <a:p>
            <a:pPr>
              <a:lnSpc>
                <a:spcPct val="115000"/>
              </a:lnSpc>
              <a:spcAft>
                <a:spcPts val="1400"/>
              </a:spcAft>
            </a:pPr>
            <a:r>
              <a:rPr sz="1500">
                <a:solidFill>
                  <a:srgbClr val="1B2A2D"/>
                </a:solidFill>
                <a:latin typeface="Calibri"/>
              </a:rPr>
              <a:t>•  Not a decision to scale on the raw pilot number as-is — we correct for a known data issue first, then scale</a:t>
            </a:r>
          </a:p>
        </p:txBody>
      </p:sp>
      <p:sp>
        <p:nvSpPr>
          <p:cNvPr id="14" name="TextBox 13"/>
          <p:cNvSpPr txBox="1"/>
          <p:nvPr/>
        </p:nvSpPr>
        <p:spPr>
          <a:xfrm>
            <a:off x="11368735" y="6400800"/>
            <a:ext cx="548640" cy="320040"/>
          </a:xfrm>
          <a:prstGeom prst="rect">
            <a:avLst/>
          </a:prstGeom>
          <a:noFill/>
        </p:spPr>
        <p:txBody>
          <a:bodyPr wrap="square" anchor="t" lIns="0" rIns="0" tIns="0" bIns="0">
            <a:spAutoFit/>
          </a:bodyPr>
          <a:lstStyle/>
          <a:p>
            <a:pPr algn="r">
              <a:lnSpc>
                <a:spcPct val="100000"/>
              </a:lnSpc>
            </a:pPr>
            <a:r>
              <a:rPr sz="1100" b="0" i="0">
                <a:solidFill>
                  <a:srgbClr val="5C7477"/>
                </a:solidFill>
                <a:latin typeface="Calibri"/>
              </a:rP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486400" cy="365760"/>
          </a:xfrm>
          <a:prstGeom prst="rect">
            <a:avLst/>
          </a:prstGeom>
          <a:noFill/>
        </p:spPr>
        <p:txBody>
          <a:bodyPr wrap="square" anchor="t" lIns="0" rIns="0" tIns="0" bIns="0">
            <a:spAutoFit/>
          </a:bodyPr>
          <a:lstStyle/>
          <a:p>
            <a:pPr algn="l">
              <a:lnSpc>
                <a:spcPct val="100000"/>
              </a:lnSpc>
            </a:pPr>
            <a:r>
              <a:rPr sz="1400" b="1" i="0">
                <a:solidFill>
                  <a:srgbClr val="02C39A"/>
                </a:solidFill>
                <a:latin typeface="Calibri"/>
              </a:rPr>
              <a:t>EVIDENCE</a:t>
            </a:r>
          </a:p>
        </p:txBody>
      </p:sp>
      <p:sp>
        <p:nvSpPr>
          <p:cNvPr id="3" name="TextBox 2"/>
          <p:cNvSpPr txBox="1"/>
          <p:nvPr/>
        </p:nvSpPr>
        <p:spPr>
          <a:xfrm>
            <a:off x="640080" y="1051560"/>
            <a:ext cx="8229600" cy="640080"/>
          </a:xfrm>
          <a:prstGeom prst="rect">
            <a:avLst/>
          </a:prstGeom>
          <a:noFill/>
        </p:spPr>
        <p:txBody>
          <a:bodyPr wrap="square" anchor="t" lIns="0" rIns="0" tIns="0" bIns="0">
            <a:spAutoFit/>
          </a:bodyPr>
          <a:lstStyle/>
          <a:p>
            <a:pPr algn="l">
              <a:lnSpc>
                <a:spcPct val="100000"/>
              </a:lnSpc>
            </a:pPr>
            <a:r>
              <a:rPr sz="3200" b="1" i="0">
                <a:solidFill>
                  <a:srgbClr val="1B2A2D"/>
                </a:solidFill>
                <a:latin typeface="Cambria"/>
              </a:rPr>
              <a:t>Prototype, User Voice, and Data</a:t>
            </a:r>
          </a:p>
        </p:txBody>
      </p:sp>
      <p:sp>
        <p:nvSpPr>
          <p:cNvPr id="4" name="Rounded Rectangle 3"/>
          <p:cNvSpPr/>
          <p:nvPr/>
        </p:nvSpPr>
        <p:spPr>
          <a:xfrm>
            <a:off x="640080" y="1737360"/>
            <a:ext cx="3429000" cy="1508760"/>
          </a:xfrm>
          <a:prstGeom prst="roundRect">
            <a:avLst>
              <a:gd name="adj" fmla="val 6000"/>
            </a:avLst>
          </a:prstGeom>
          <a:solidFill>
            <a:srgbClr val="F2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47088"/>
            <a:ext cx="3017520" cy="685800"/>
          </a:xfrm>
          <a:prstGeom prst="rect">
            <a:avLst/>
          </a:prstGeom>
          <a:noFill/>
        </p:spPr>
        <p:txBody>
          <a:bodyPr wrap="square" anchor="t" lIns="0" rIns="0" tIns="0" bIns="0">
            <a:spAutoFit/>
          </a:bodyPr>
          <a:lstStyle/>
          <a:p>
            <a:pPr algn="l">
              <a:lnSpc>
                <a:spcPct val="100000"/>
              </a:lnSpc>
            </a:pPr>
            <a:r>
              <a:rPr sz="2700" b="1" i="0">
                <a:solidFill>
                  <a:srgbClr val="028090"/>
                </a:solidFill>
                <a:latin typeface="Cambria"/>
              </a:rPr>
              <a:t>76% vs 46%</a:t>
            </a:r>
          </a:p>
        </p:txBody>
      </p:sp>
      <p:sp>
        <p:nvSpPr>
          <p:cNvPr id="6" name="TextBox 5"/>
          <p:cNvSpPr txBox="1"/>
          <p:nvPr/>
        </p:nvSpPr>
        <p:spPr>
          <a:xfrm>
            <a:off x="868680" y="2560320"/>
            <a:ext cx="3017520" cy="594360"/>
          </a:xfrm>
          <a:prstGeom prst="rect">
            <a:avLst/>
          </a:prstGeom>
          <a:noFill/>
        </p:spPr>
        <p:txBody>
          <a:bodyPr wrap="square" anchor="t" lIns="0" rIns="0" tIns="0" bIns="0">
            <a:spAutoFit/>
          </a:bodyPr>
          <a:lstStyle/>
          <a:p>
            <a:pPr algn="l">
              <a:lnSpc>
                <a:spcPct val="115000"/>
              </a:lnSpc>
            </a:pPr>
            <a:r>
              <a:rPr sz="1150" b="0" i="0">
                <a:solidFill>
                  <a:srgbClr val="5C7477"/>
                </a:solidFill>
                <a:latin typeface="Calibri"/>
              </a:rPr>
              <a:t>Day-7 retention</a:t>
            </a:r>
          </a:p>
          <a:p>
            <a:pPr algn="l">
              <a:lnSpc>
                <a:spcPct val="115000"/>
              </a:lnSpc>
            </a:pPr>
            <a:r>
              <a:rPr sz="1150" b="0" i="0">
                <a:solidFill>
                  <a:srgbClr val="5C7477"/>
                </a:solidFill>
                <a:latin typeface="Calibri"/>
              </a:rPr>
              <a:t>(treatment vs. control)</a:t>
            </a:r>
          </a:p>
        </p:txBody>
      </p:sp>
      <p:sp>
        <p:nvSpPr>
          <p:cNvPr id="7" name="Rounded Rectangle 6"/>
          <p:cNvSpPr/>
          <p:nvPr/>
        </p:nvSpPr>
        <p:spPr>
          <a:xfrm>
            <a:off x="4343400" y="1737360"/>
            <a:ext cx="3429000" cy="1508760"/>
          </a:xfrm>
          <a:prstGeom prst="roundRect">
            <a:avLst>
              <a:gd name="adj" fmla="val 6000"/>
            </a:avLst>
          </a:prstGeom>
          <a:solidFill>
            <a:srgbClr val="F2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47088"/>
            <a:ext cx="3017520" cy="685800"/>
          </a:xfrm>
          <a:prstGeom prst="rect">
            <a:avLst/>
          </a:prstGeom>
          <a:noFill/>
        </p:spPr>
        <p:txBody>
          <a:bodyPr wrap="square" anchor="t" lIns="0" rIns="0" tIns="0" bIns="0">
            <a:spAutoFit/>
          </a:bodyPr>
          <a:lstStyle/>
          <a:p>
            <a:pPr algn="l">
              <a:lnSpc>
                <a:spcPct val="100000"/>
              </a:lnSpc>
            </a:pPr>
            <a:r>
              <a:rPr sz="2700" b="1" i="0">
                <a:solidFill>
                  <a:srgbClr val="028090"/>
                </a:solidFill>
                <a:latin typeface="Cambria"/>
              </a:rPr>
              <a:t>36% vs 22%</a:t>
            </a:r>
          </a:p>
        </p:txBody>
      </p:sp>
      <p:sp>
        <p:nvSpPr>
          <p:cNvPr id="9" name="TextBox 8"/>
          <p:cNvSpPr txBox="1"/>
          <p:nvPr/>
        </p:nvSpPr>
        <p:spPr>
          <a:xfrm>
            <a:off x="4572000" y="2560320"/>
            <a:ext cx="3017520" cy="594360"/>
          </a:xfrm>
          <a:prstGeom prst="rect">
            <a:avLst/>
          </a:prstGeom>
          <a:noFill/>
        </p:spPr>
        <p:txBody>
          <a:bodyPr wrap="square" anchor="t" lIns="0" rIns="0" tIns="0" bIns="0">
            <a:spAutoFit/>
          </a:bodyPr>
          <a:lstStyle/>
          <a:p>
            <a:pPr algn="l">
              <a:lnSpc>
                <a:spcPct val="115000"/>
              </a:lnSpc>
            </a:pPr>
            <a:r>
              <a:rPr sz="1150" b="0" i="0">
                <a:solidFill>
                  <a:srgbClr val="5C7477"/>
                </a:solidFill>
                <a:latin typeface="Calibri"/>
              </a:rPr>
              <a:t>Day-30 retention</a:t>
            </a:r>
          </a:p>
          <a:p>
            <a:pPr algn="l">
              <a:lnSpc>
                <a:spcPct val="115000"/>
              </a:lnSpc>
            </a:pPr>
            <a:r>
              <a:rPr sz="1150" b="0" i="0">
                <a:solidFill>
                  <a:srgbClr val="5C7477"/>
                </a:solidFill>
                <a:latin typeface="Calibri"/>
              </a:rPr>
              <a:t>(treatment vs. control)</a:t>
            </a:r>
          </a:p>
        </p:txBody>
      </p:sp>
      <p:sp>
        <p:nvSpPr>
          <p:cNvPr id="10" name="Rounded Rectangle 9"/>
          <p:cNvSpPr/>
          <p:nvPr/>
        </p:nvSpPr>
        <p:spPr>
          <a:xfrm>
            <a:off x="8046720" y="1737360"/>
            <a:ext cx="3429000" cy="1508760"/>
          </a:xfrm>
          <a:prstGeom prst="roundRect">
            <a:avLst>
              <a:gd name="adj" fmla="val 6000"/>
            </a:avLst>
          </a:prstGeom>
          <a:solidFill>
            <a:srgbClr val="F2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847088"/>
            <a:ext cx="3017520" cy="685800"/>
          </a:xfrm>
          <a:prstGeom prst="rect">
            <a:avLst/>
          </a:prstGeom>
          <a:noFill/>
        </p:spPr>
        <p:txBody>
          <a:bodyPr wrap="square" anchor="t" lIns="0" rIns="0" tIns="0" bIns="0">
            <a:spAutoFit/>
          </a:bodyPr>
          <a:lstStyle/>
          <a:p>
            <a:pPr algn="l">
              <a:lnSpc>
                <a:spcPct val="100000"/>
              </a:lnSpc>
            </a:pPr>
            <a:r>
              <a:rPr sz="2700" b="1" i="0">
                <a:solidFill>
                  <a:srgbClr val="028090"/>
                </a:solidFill>
                <a:latin typeface="Cambria"/>
              </a:rPr>
              <a:t>28% → 56%</a:t>
            </a:r>
          </a:p>
        </p:txBody>
      </p:sp>
      <p:sp>
        <p:nvSpPr>
          <p:cNvPr id="12" name="TextBox 11"/>
          <p:cNvSpPr txBox="1"/>
          <p:nvPr/>
        </p:nvSpPr>
        <p:spPr>
          <a:xfrm>
            <a:off x="8275320" y="2560320"/>
            <a:ext cx="3017520" cy="594360"/>
          </a:xfrm>
          <a:prstGeom prst="rect">
            <a:avLst/>
          </a:prstGeom>
          <a:noFill/>
        </p:spPr>
        <p:txBody>
          <a:bodyPr wrap="square" anchor="t" lIns="0" rIns="0" tIns="0" bIns="0">
            <a:spAutoFit/>
          </a:bodyPr>
          <a:lstStyle/>
          <a:p>
            <a:pPr algn="l">
              <a:lnSpc>
                <a:spcPct val="115000"/>
              </a:lnSpc>
            </a:pPr>
            <a:r>
              <a:rPr sz="1150" b="0" i="0">
                <a:solidFill>
                  <a:srgbClr val="5C7477"/>
                </a:solidFill>
                <a:latin typeface="Calibri"/>
              </a:rPr>
              <a:t>Send open rate</a:t>
            </a:r>
          </a:p>
          <a:p>
            <a:pPr algn="l">
              <a:lnSpc>
                <a:spcPct val="115000"/>
              </a:lnSpc>
            </a:pPr>
            <a:r>
              <a:rPr sz="1150" b="0" i="0">
                <a:solidFill>
                  <a:srgbClr val="5C7477"/>
                </a:solidFill>
                <a:latin typeface="Calibri"/>
              </a:rPr>
              <a:t>(treatment climbed; control flat 4–6%)</a:t>
            </a:r>
          </a:p>
        </p:txBody>
      </p:sp>
      <p:sp>
        <p:nvSpPr>
          <p:cNvPr id="13" name="Rounded Rectangle 12"/>
          <p:cNvSpPr/>
          <p:nvPr/>
        </p:nvSpPr>
        <p:spPr>
          <a:xfrm>
            <a:off x="640080" y="3520440"/>
            <a:ext cx="5349240" cy="2103120"/>
          </a:xfrm>
          <a:prstGeom prst="roundRect">
            <a:avLst>
              <a:gd name="adj" fmla="val 45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703320"/>
            <a:ext cx="548640" cy="548640"/>
          </a:xfrm>
          <a:prstGeom prst="rect">
            <a:avLst/>
          </a:prstGeom>
          <a:noFill/>
        </p:spPr>
        <p:txBody>
          <a:bodyPr wrap="square" anchor="t" lIns="0" rIns="0" tIns="0" bIns="0">
            <a:spAutoFit/>
          </a:bodyPr>
          <a:lstStyle/>
          <a:p>
            <a:pPr algn="l">
              <a:lnSpc>
                <a:spcPct val="100000"/>
              </a:lnSpc>
            </a:pPr>
            <a:r>
              <a:rPr sz="4000" b="1" i="0">
                <a:solidFill>
                  <a:srgbClr val="02C39A"/>
                </a:solidFill>
                <a:latin typeface="Cambria"/>
              </a:rPr>
              <a:t>“</a:t>
            </a:r>
          </a:p>
        </p:txBody>
      </p:sp>
      <p:sp>
        <p:nvSpPr>
          <p:cNvPr id="15" name="TextBox 14"/>
          <p:cNvSpPr txBox="1"/>
          <p:nvPr/>
        </p:nvSpPr>
        <p:spPr>
          <a:xfrm>
            <a:off x="914400" y="4160520"/>
            <a:ext cx="4800600" cy="1097280"/>
          </a:xfrm>
          <a:prstGeom prst="rect">
            <a:avLst/>
          </a:prstGeom>
          <a:noFill/>
        </p:spPr>
        <p:txBody>
          <a:bodyPr wrap="square" anchor="t" lIns="0" rIns="0" tIns="0" bIns="0">
            <a:spAutoFit/>
          </a:bodyPr>
          <a:lstStyle/>
          <a:p>
            <a:pPr algn="l">
              <a:lnSpc>
                <a:spcPct val="130000"/>
              </a:lnSpc>
            </a:pPr>
            <a:r>
              <a:rPr sz="1450" b="0" i="1">
                <a:solidFill>
                  <a:srgbClr val="FFFFFF"/>
                </a:solidFill>
                <a:latin typeface="Calibri"/>
              </a:rPr>
              <a:t>There was no way to recover it, nothing. So I gave up. I switched to Duolingo — a streak freeze feels forgiving.</a:t>
            </a:r>
          </a:p>
        </p:txBody>
      </p:sp>
      <p:sp>
        <p:nvSpPr>
          <p:cNvPr id="16" name="TextBox 15"/>
          <p:cNvSpPr txBox="1"/>
          <p:nvPr/>
        </p:nvSpPr>
        <p:spPr>
          <a:xfrm>
            <a:off x="914400" y="5257800"/>
            <a:ext cx="4572000" cy="320040"/>
          </a:xfrm>
          <a:prstGeom prst="rect">
            <a:avLst/>
          </a:prstGeom>
          <a:noFill/>
        </p:spPr>
        <p:txBody>
          <a:bodyPr wrap="square" anchor="t" lIns="0" rIns="0" tIns="0" bIns="0">
            <a:spAutoFit/>
          </a:bodyPr>
          <a:lstStyle/>
          <a:p>
            <a:pPr algn="l">
              <a:lnSpc>
                <a:spcPct val="100000"/>
              </a:lnSpc>
            </a:pPr>
            <a:r>
              <a:rPr sz="1200" b="1" i="0">
                <a:solidFill>
                  <a:srgbClr val="02C39A"/>
                </a:solidFill>
                <a:latin typeface="Calibri"/>
              </a:rPr>
              <a:t>— Tom, churned user</a:t>
            </a:r>
          </a:p>
        </p:txBody>
      </p:sp>
      <p:sp>
        <p:nvSpPr>
          <p:cNvPr id="17" name="Rounded Rectangle 16"/>
          <p:cNvSpPr/>
          <p:nvPr/>
        </p:nvSpPr>
        <p:spPr>
          <a:xfrm>
            <a:off x="6217920" y="3520440"/>
            <a:ext cx="5349240" cy="2103120"/>
          </a:xfrm>
          <a:prstGeom prst="roundRect">
            <a:avLst>
              <a:gd name="adj" fmla="val 45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703320"/>
            <a:ext cx="548640" cy="548640"/>
          </a:xfrm>
          <a:prstGeom prst="rect">
            <a:avLst/>
          </a:prstGeom>
          <a:noFill/>
        </p:spPr>
        <p:txBody>
          <a:bodyPr wrap="square" anchor="t" lIns="0" rIns="0" tIns="0" bIns="0">
            <a:spAutoFit/>
          </a:bodyPr>
          <a:lstStyle/>
          <a:p>
            <a:pPr algn="l">
              <a:lnSpc>
                <a:spcPct val="100000"/>
              </a:lnSpc>
            </a:pPr>
            <a:r>
              <a:rPr sz="4000" b="1" i="0">
                <a:solidFill>
                  <a:srgbClr val="024038"/>
                </a:solidFill>
                <a:latin typeface="Cambria"/>
              </a:rPr>
              <a:t>“</a:t>
            </a:r>
          </a:p>
        </p:txBody>
      </p:sp>
      <p:sp>
        <p:nvSpPr>
          <p:cNvPr id="19" name="TextBox 18"/>
          <p:cNvSpPr txBox="1"/>
          <p:nvPr/>
        </p:nvSpPr>
        <p:spPr>
          <a:xfrm>
            <a:off x="6492240" y="4160520"/>
            <a:ext cx="4800600" cy="1097280"/>
          </a:xfrm>
          <a:prstGeom prst="rect">
            <a:avLst/>
          </a:prstGeom>
          <a:noFill/>
        </p:spPr>
        <p:txBody>
          <a:bodyPr wrap="square" anchor="t" lIns="0" rIns="0" tIns="0" bIns="0">
            <a:spAutoFit/>
          </a:bodyPr>
          <a:lstStyle/>
          <a:p>
            <a:pPr algn="l">
              <a:lnSpc>
                <a:spcPct val="130000"/>
              </a:lnSpc>
            </a:pPr>
            <a:r>
              <a:rPr sz="1450" b="0" i="1">
                <a:solidFill>
                  <a:srgbClr val="FFFFFF"/>
                </a:solidFill>
                <a:latin typeface="Calibri"/>
              </a:rPr>
              <a:t>The thing that made it stick was hitting a 30-day streak and the app actually celebrating it.</a:t>
            </a:r>
          </a:p>
        </p:txBody>
      </p:sp>
      <p:sp>
        <p:nvSpPr>
          <p:cNvPr id="20" name="TextBox 19"/>
          <p:cNvSpPr txBox="1"/>
          <p:nvPr/>
        </p:nvSpPr>
        <p:spPr>
          <a:xfrm>
            <a:off x="6492240" y="5257800"/>
            <a:ext cx="4572000" cy="320040"/>
          </a:xfrm>
          <a:prstGeom prst="rect">
            <a:avLst/>
          </a:prstGeom>
          <a:noFill/>
        </p:spPr>
        <p:txBody>
          <a:bodyPr wrap="square" anchor="t" lIns="0" rIns="0" tIns="0" bIns="0">
            <a:spAutoFit/>
          </a:bodyPr>
          <a:lstStyle/>
          <a:p>
            <a:pPr algn="l">
              <a:lnSpc>
                <a:spcPct val="100000"/>
              </a:lnSpc>
            </a:pPr>
            <a:r>
              <a:rPr sz="1200" b="1" i="0">
                <a:solidFill>
                  <a:srgbClr val="024038"/>
                </a:solidFill>
                <a:latin typeface="Calibri"/>
              </a:rPr>
              <a:t>— Priya, retained power user</a:t>
            </a:r>
          </a:p>
        </p:txBody>
      </p:sp>
      <p:sp>
        <p:nvSpPr>
          <p:cNvPr id="21" name="TextBox 20"/>
          <p:cNvSpPr txBox="1"/>
          <p:nvPr/>
        </p:nvSpPr>
        <p:spPr>
          <a:xfrm>
            <a:off x="640080" y="5806440"/>
            <a:ext cx="10881360" cy="365760"/>
          </a:xfrm>
          <a:prstGeom prst="rect">
            <a:avLst/>
          </a:prstGeom>
          <a:noFill/>
        </p:spPr>
        <p:txBody>
          <a:bodyPr wrap="square" anchor="t" lIns="0" rIns="0" tIns="0" bIns="0">
            <a:spAutoFit/>
          </a:bodyPr>
          <a:lstStyle/>
          <a:p>
            <a:pPr algn="l">
              <a:lnSpc>
                <a:spcPct val="100000"/>
              </a:lnSpc>
            </a:pPr>
            <a:r>
              <a:rPr sz="1250" b="0" i="1">
                <a:solidFill>
                  <a:srgbClr val="5C7477"/>
                </a:solidFill>
                <a:latin typeface="Calibri"/>
              </a:rPr>
              <a:t>A working, testable prototype exists behind these numbers — this isn't a concept on paper only.</a:t>
            </a:r>
          </a:p>
        </p:txBody>
      </p:sp>
      <p:sp>
        <p:nvSpPr>
          <p:cNvPr id="22" name="TextBox 21"/>
          <p:cNvSpPr txBox="1"/>
          <p:nvPr/>
        </p:nvSpPr>
        <p:spPr>
          <a:xfrm>
            <a:off x="11368735" y="6400800"/>
            <a:ext cx="548640" cy="320040"/>
          </a:xfrm>
          <a:prstGeom prst="rect">
            <a:avLst/>
          </a:prstGeom>
          <a:noFill/>
        </p:spPr>
        <p:txBody>
          <a:bodyPr wrap="square" anchor="t" lIns="0" rIns="0" tIns="0" bIns="0">
            <a:spAutoFit/>
          </a:bodyPr>
          <a:lstStyle/>
          <a:p>
            <a:pPr algn="r">
              <a:lnSpc>
                <a:spcPct val="100000"/>
              </a:lnSpc>
            </a:pPr>
            <a:r>
              <a:rPr sz="1100" b="0" i="0">
                <a:solidFill>
                  <a:srgbClr val="5C7477"/>
                </a:solidFill>
                <a:latin typeface="Calibri"/>
              </a:rP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486400" cy="365760"/>
          </a:xfrm>
          <a:prstGeom prst="rect">
            <a:avLst/>
          </a:prstGeom>
          <a:noFill/>
        </p:spPr>
        <p:txBody>
          <a:bodyPr wrap="square" anchor="t" lIns="0" rIns="0" tIns="0" bIns="0">
            <a:spAutoFit/>
          </a:bodyPr>
          <a:lstStyle/>
          <a:p>
            <a:pPr algn="l">
              <a:lnSpc>
                <a:spcPct val="100000"/>
              </a:lnSpc>
            </a:pPr>
            <a:r>
              <a:rPr sz="1400" b="1" i="0">
                <a:solidFill>
                  <a:srgbClr val="02C39A"/>
                </a:solidFill>
                <a:latin typeface="Calibri"/>
              </a:rPr>
              <a:t>THE PLAN</a:t>
            </a:r>
          </a:p>
        </p:txBody>
      </p:sp>
      <p:sp>
        <p:nvSpPr>
          <p:cNvPr id="3" name="TextBox 2"/>
          <p:cNvSpPr txBox="1"/>
          <p:nvPr/>
        </p:nvSpPr>
        <p:spPr>
          <a:xfrm>
            <a:off x="640080" y="1051560"/>
            <a:ext cx="8229600" cy="640080"/>
          </a:xfrm>
          <a:prstGeom prst="rect">
            <a:avLst/>
          </a:prstGeom>
          <a:noFill/>
        </p:spPr>
        <p:txBody>
          <a:bodyPr wrap="square" anchor="t" lIns="0" rIns="0" tIns="0" bIns="0">
            <a:spAutoFit/>
          </a:bodyPr>
          <a:lstStyle/>
          <a:p>
            <a:pPr algn="l">
              <a:lnSpc>
                <a:spcPct val="100000"/>
              </a:lnSpc>
            </a:pPr>
            <a:r>
              <a:rPr sz="3200" b="1" i="0">
                <a:solidFill>
                  <a:srgbClr val="1B2A2D"/>
                </a:solidFill>
                <a:latin typeface="Cambria"/>
              </a:rPr>
              <a:t>Milestones and Risks</a:t>
            </a:r>
          </a:p>
        </p:txBody>
      </p:sp>
      <p:sp>
        <p:nvSpPr>
          <p:cNvPr id="4" name="Rounded Rectangle 3"/>
          <p:cNvSpPr/>
          <p:nvPr/>
        </p:nvSpPr>
        <p:spPr>
          <a:xfrm>
            <a:off x="640080" y="1645920"/>
            <a:ext cx="10927080" cy="594360"/>
          </a:xfrm>
          <a:prstGeom prst="roundRect">
            <a:avLst>
              <a:gd name="adj" fmla="val 15000"/>
            </a:avLst>
          </a:prstGeom>
          <a:solidFill>
            <a:srgbClr val="FB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55648"/>
            <a:ext cx="10424160" cy="411480"/>
          </a:xfrm>
          <a:prstGeom prst="rect">
            <a:avLst/>
          </a:prstGeom>
          <a:noFill/>
        </p:spPr>
        <p:txBody>
          <a:bodyPr wrap="square" anchor="ctr" lIns="0" rIns="0" tIns="0" bIns="0">
            <a:spAutoFit/>
          </a:bodyPr>
          <a:lstStyle/>
          <a:p>
            <a:pPr algn="l">
              <a:lnSpc>
                <a:spcPct val="100000"/>
              </a:lnSpc>
            </a:pPr>
            <a:r>
              <a:rPr sz="1350" b="0" i="1">
                <a:solidFill>
                  <a:srgbClr val="8A5A1E"/>
                </a:solidFill>
                <a:latin typeface="Calibri"/>
              </a:rPr>
              <a:t>A full rollout timeline is not yet defined — that's part of today's ask, not hidden from it.</a:t>
            </a:r>
          </a:p>
        </p:txBody>
      </p:sp>
      <p:sp>
        <p:nvSpPr>
          <p:cNvPr id="6" name="Rounded Rectangle 5"/>
          <p:cNvSpPr/>
          <p:nvPr/>
        </p:nvSpPr>
        <p:spPr>
          <a:xfrm>
            <a:off x="640080" y="2468880"/>
            <a:ext cx="3429000" cy="1965960"/>
          </a:xfrm>
          <a:prstGeom prst="roundRect">
            <a:avLst>
              <a:gd name="adj" fmla="val 5000"/>
            </a:avLst>
          </a:prstGeom>
          <a:solidFill>
            <a:srgbClr val="F2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2697480"/>
            <a:ext cx="502920" cy="50292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697480"/>
            <a:ext cx="502920" cy="502920"/>
          </a:xfrm>
          <a:prstGeom prst="rect">
            <a:avLst/>
          </a:prstGeom>
          <a:noFill/>
        </p:spPr>
        <p:txBody>
          <a:bodyPr wrap="square" anchor="ctr" lIns="0" rIns="0" tIns="0" bIns="0">
            <a:spAutoFit/>
          </a:bodyPr>
          <a:lstStyle/>
          <a:p>
            <a:pPr algn="ctr">
              <a:lnSpc>
                <a:spcPct val="100000"/>
              </a:lnSpc>
            </a:pPr>
            <a:r>
              <a:rPr sz="2000" b="1" i="0">
                <a:solidFill>
                  <a:srgbClr val="FFFFFF"/>
                </a:solidFill>
                <a:latin typeface="Cambria"/>
              </a:rPr>
              <a:t>1</a:t>
            </a:r>
          </a:p>
        </p:txBody>
      </p:sp>
      <p:sp>
        <p:nvSpPr>
          <p:cNvPr id="9" name="TextBox 8"/>
          <p:cNvSpPr txBox="1"/>
          <p:nvPr/>
        </p:nvSpPr>
        <p:spPr>
          <a:xfrm>
            <a:off x="914400" y="3337560"/>
            <a:ext cx="2880360" cy="365760"/>
          </a:xfrm>
          <a:prstGeom prst="rect">
            <a:avLst/>
          </a:prstGeom>
          <a:noFill/>
        </p:spPr>
        <p:txBody>
          <a:bodyPr wrap="square" anchor="t" lIns="0" rIns="0" tIns="0" bIns="0">
            <a:spAutoFit/>
          </a:bodyPr>
          <a:lstStyle/>
          <a:p>
            <a:pPr algn="l">
              <a:lnSpc>
                <a:spcPct val="100000"/>
              </a:lnSpc>
            </a:pPr>
            <a:r>
              <a:rPr sz="1550" b="1" i="0">
                <a:solidFill>
                  <a:srgbClr val="1B2A2D"/>
                </a:solidFill>
                <a:latin typeface="Cambria"/>
              </a:rPr>
              <a:t>Correct the Analysis</a:t>
            </a:r>
          </a:p>
        </p:txBody>
      </p:sp>
      <p:sp>
        <p:nvSpPr>
          <p:cNvPr id="10" name="TextBox 9"/>
          <p:cNvSpPr txBox="1"/>
          <p:nvPr/>
        </p:nvSpPr>
        <p:spPr>
          <a:xfrm>
            <a:off x="914400" y="3703320"/>
            <a:ext cx="2880360" cy="685800"/>
          </a:xfrm>
          <a:prstGeom prst="rect">
            <a:avLst/>
          </a:prstGeom>
          <a:noFill/>
        </p:spPr>
        <p:txBody>
          <a:bodyPr wrap="square" anchor="t" lIns="0" rIns="0" tIns="0" bIns="0">
            <a:spAutoFit/>
          </a:bodyPr>
          <a:lstStyle/>
          <a:p>
            <a:pPr algn="l">
              <a:lnSpc>
                <a:spcPct val="120000"/>
              </a:lnSpc>
            </a:pPr>
            <a:r>
              <a:rPr sz="1150" b="0" i="0">
                <a:solidFill>
                  <a:srgbClr val="5C7477"/>
                </a:solidFill>
                <a:latin typeface="Calibri"/>
              </a:rPr>
              <a:t>Re-run the pilot result controlling for the data-quality issue found.</a:t>
            </a:r>
          </a:p>
        </p:txBody>
      </p:sp>
      <p:sp>
        <p:nvSpPr>
          <p:cNvPr id="11" name="Rounded Rectangle 10"/>
          <p:cNvSpPr/>
          <p:nvPr/>
        </p:nvSpPr>
        <p:spPr>
          <a:xfrm>
            <a:off x="4434840" y="2468880"/>
            <a:ext cx="3429000" cy="1965960"/>
          </a:xfrm>
          <a:prstGeom prst="roundRect">
            <a:avLst>
              <a:gd name="adj" fmla="val 5000"/>
            </a:avLst>
          </a:prstGeom>
          <a:solidFill>
            <a:srgbClr val="F2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709160" y="2697480"/>
            <a:ext cx="502920" cy="50292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2697480"/>
            <a:ext cx="502920" cy="502920"/>
          </a:xfrm>
          <a:prstGeom prst="rect">
            <a:avLst/>
          </a:prstGeom>
          <a:noFill/>
        </p:spPr>
        <p:txBody>
          <a:bodyPr wrap="square" anchor="ctr" lIns="0" rIns="0" tIns="0" bIns="0">
            <a:spAutoFit/>
          </a:bodyPr>
          <a:lstStyle/>
          <a:p>
            <a:pPr algn="ctr">
              <a:lnSpc>
                <a:spcPct val="100000"/>
              </a:lnSpc>
            </a:pPr>
            <a:r>
              <a:rPr sz="2000" b="1" i="0">
                <a:solidFill>
                  <a:srgbClr val="FFFFFF"/>
                </a:solidFill>
                <a:latin typeface="Cambria"/>
              </a:rPr>
              <a:t>2</a:t>
            </a:r>
          </a:p>
        </p:txBody>
      </p:sp>
      <p:sp>
        <p:nvSpPr>
          <p:cNvPr id="14" name="TextBox 13"/>
          <p:cNvSpPr txBox="1"/>
          <p:nvPr/>
        </p:nvSpPr>
        <p:spPr>
          <a:xfrm>
            <a:off x="4709160" y="3337560"/>
            <a:ext cx="2880360" cy="365760"/>
          </a:xfrm>
          <a:prstGeom prst="rect">
            <a:avLst/>
          </a:prstGeom>
          <a:noFill/>
        </p:spPr>
        <p:txBody>
          <a:bodyPr wrap="square" anchor="t" lIns="0" rIns="0" tIns="0" bIns="0">
            <a:spAutoFit/>
          </a:bodyPr>
          <a:lstStyle/>
          <a:p>
            <a:pPr algn="l">
              <a:lnSpc>
                <a:spcPct val="100000"/>
              </a:lnSpc>
            </a:pPr>
            <a:r>
              <a:rPr sz="1550" b="1" i="0">
                <a:solidFill>
                  <a:srgbClr val="1B2A2D"/>
                </a:solidFill>
                <a:latin typeface="Cambria"/>
              </a:rPr>
              <a:t>Decision Checkpoint</a:t>
            </a:r>
          </a:p>
        </p:txBody>
      </p:sp>
      <p:sp>
        <p:nvSpPr>
          <p:cNvPr id="15" name="TextBox 14"/>
          <p:cNvSpPr txBox="1"/>
          <p:nvPr/>
        </p:nvSpPr>
        <p:spPr>
          <a:xfrm>
            <a:off x="4709160" y="3703320"/>
            <a:ext cx="2880360" cy="685800"/>
          </a:xfrm>
          <a:prstGeom prst="rect">
            <a:avLst/>
          </a:prstGeom>
          <a:noFill/>
        </p:spPr>
        <p:txBody>
          <a:bodyPr wrap="square" anchor="t" lIns="0" rIns="0" tIns="0" bIns="0">
            <a:spAutoFit/>
          </a:bodyPr>
          <a:lstStyle/>
          <a:p>
            <a:pPr algn="l">
              <a:lnSpc>
                <a:spcPct val="120000"/>
              </a:lnSpc>
            </a:pPr>
            <a:r>
              <a:rPr sz="1150" b="0" i="0">
                <a:solidFill>
                  <a:srgbClr val="5C7477"/>
                </a:solidFill>
                <a:latin typeface="Calibri"/>
              </a:rPr>
              <a:t>Confirm the corrected effect size before committing further.</a:t>
            </a:r>
          </a:p>
        </p:txBody>
      </p:sp>
      <p:sp>
        <p:nvSpPr>
          <p:cNvPr id="16" name="Rounded Rectangle 15"/>
          <p:cNvSpPr/>
          <p:nvPr/>
        </p:nvSpPr>
        <p:spPr>
          <a:xfrm>
            <a:off x="8229600" y="2468880"/>
            <a:ext cx="3429000" cy="1965960"/>
          </a:xfrm>
          <a:prstGeom prst="roundRect">
            <a:avLst>
              <a:gd name="adj" fmla="val 5000"/>
            </a:avLst>
          </a:prstGeom>
          <a:solidFill>
            <a:srgbClr val="F2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503920" y="2697480"/>
            <a:ext cx="502920" cy="50292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697480"/>
            <a:ext cx="502920" cy="502920"/>
          </a:xfrm>
          <a:prstGeom prst="rect">
            <a:avLst/>
          </a:prstGeom>
          <a:noFill/>
        </p:spPr>
        <p:txBody>
          <a:bodyPr wrap="square" anchor="ctr" lIns="0" rIns="0" tIns="0" bIns="0">
            <a:spAutoFit/>
          </a:bodyPr>
          <a:lstStyle/>
          <a:p>
            <a:pPr algn="ctr">
              <a:lnSpc>
                <a:spcPct val="100000"/>
              </a:lnSpc>
            </a:pPr>
            <a:r>
              <a:rPr sz="2000" b="1" i="0">
                <a:solidFill>
                  <a:srgbClr val="FFFFFF"/>
                </a:solidFill>
                <a:latin typeface="Cambria"/>
              </a:rPr>
              <a:t>3</a:t>
            </a:r>
          </a:p>
        </p:txBody>
      </p:sp>
      <p:sp>
        <p:nvSpPr>
          <p:cNvPr id="19" name="TextBox 18"/>
          <p:cNvSpPr txBox="1"/>
          <p:nvPr/>
        </p:nvSpPr>
        <p:spPr>
          <a:xfrm>
            <a:off x="8503920" y="3337560"/>
            <a:ext cx="2880360" cy="365760"/>
          </a:xfrm>
          <a:prstGeom prst="rect">
            <a:avLst/>
          </a:prstGeom>
          <a:noFill/>
        </p:spPr>
        <p:txBody>
          <a:bodyPr wrap="square" anchor="t" lIns="0" rIns="0" tIns="0" bIns="0">
            <a:spAutoFit/>
          </a:bodyPr>
          <a:lstStyle/>
          <a:p>
            <a:pPr algn="l">
              <a:lnSpc>
                <a:spcPct val="100000"/>
              </a:lnSpc>
            </a:pPr>
            <a:r>
              <a:rPr sz="1550" b="1" i="0">
                <a:solidFill>
                  <a:srgbClr val="1B2A2D"/>
                </a:solidFill>
                <a:latin typeface="Cambria"/>
              </a:rPr>
              <a:t>Scaled Rollout</a:t>
            </a:r>
          </a:p>
        </p:txBody>
      </p:sp>
      <p:sp>
        <p:nvSpPr>
          <p:cNvPr id="20" name="TextBox 19"/>
          <p:cNvSpPr txBox="1"/>
          <p:nvPr/>
        </p:nvSpPr>
        <p:spPr>
          <a:xfrm>
            <a:off x="8503920" y="3703320"/>
            <a:ext cx="2880360" cy="685800"/>
          </a:xfrm>
          <a:prstGeom prst="rect">
            <a:avLst/>
          </a:prstGeom>
          <a:noFill/>
        </p:spPr>
        <p:txBody>
          <a:bodyPr wrap="square" anchor="t" lIns="0" rIns="0" tIns="0" bIns="0">
            <a:spAutoFit/>
          </a:bodyPr>
          <a:lstStyle/>
          <a:p>
            <a:pPr algn="l">
              <a:lnSpc>
                <a:spcPct val="120000"/>
              </a:lnSpc>
            </a:pPr>
            <a:r>
              <a:rPr sz="1150" b="0" i="0">
                <a:solidFill>
                  <a:srgbClr val="5C7477"/>
                </a:solidFill>
                <a:latin typeface="Calibri"/>
              </a:rPr>
              <a:t>Timeline set as part of this review, not before it.</a:t>
            </a:r>
          </a:p>
        </p:txBody>
      </p:sp>
      <p:sp>
        <p:nvSpPr>
          <p:cNvPr id="21" name="Rounded Rectangle 20"/>
          <p:cNvSpPr/>
          <p:nvPr/>
        </p:nvSpPr>
        <p:spPr>
          <a:xfrm>
            <a:off x="640080" y="4709160"/>
            <a:ext cx="10927080" cy="1600200"/>
          </a:xfrm>
          <a:prstGeom prst="roundRect">
            <a:avLst>
              <a:gd name="adj" fmla="val 4500"/>
            </a:avLst>
          </a:prstGeom>
          <a:solidFill>
            <a:srgbClr val="0B2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892040"/>
            <a:ext cx="2743200" cy="320040"/>
          </a:xfrm>
          <a:prstGeom prst="rect">
            <a:avLst/>
          </a:prstGeom>
          <a:noFill/>
        </p:spPr>
        <p:txBody>
          <a:bodyPr wrap="square" anchor="t" lIns="0" rIns="0" tIns="0" bIns="0">
            <a:spAutoFit/>
          </a:bodyPr>
          <a:lstStyle/>
          <a:p>
            <a:pPr algn="l">
              <a:lnSpc>
                <a:spcPct val="100000"/>
              </a:lnSpc>
            </a:pPr>
            <a:r>
              <a:rPr sz="1300" b="1" i="0">
                <a:solidFill>
                  <a:srgbClr val="02C39A"/>
                </a:solidFill>
                <a:latin typeface="Calibri"/>
              </a:rPr>
              <a:t>RISKS</a:t>
            </a:r>
          </a:p>
        </p:txBody>
      </p:sp>
      <p:sp>
        <p:nvSpPr>
          <p:cNvPr id="23" name="TextBox 22"/>
          <p:cNvSpPr txBox="1"/>
          <p:nvPr/>
        </p:nvSpPr>
        <p:spPr>
          <a:xfrm>
            <a:off x="914400" y="5257800"/>
            <a:ext cx="10332720" cy="960120"/>
          </a:xfrm>
          <a:prstGeom prst="rect">
            <a:avLst/>
          </a:prstGeom>
          <a:noFill/>
        </p:spPr>
        <p:txBody>
          <a:bodyPr wrap="square" lIns="0" rIns="0" tIns="0" bIns="0">
            <a:spAutoFit/>
          </a:bodyPr>
          <a:lstStyle/>
          <a:p>
            <a:pPr>
              <a:lnSpc>
                <a:spcPct val="115000"/>
              </a:lnSpc>
              <a:spcAft>
                <a:spcPts val="600"/>
              </a:spcAft>
            </a:pPr>
            <a:r>
              <a:rPr sz="1300">
                <a:solidFill>
                  <a:srgbClr val="FFFFFF"/>
                </a:solidFill>
                <a:latin typeface="Calibri"/>
              </a:rPr>
              <a:t>•  Presenting the raw pilot number uncorrected risks committing to a figure that doesn't hold at scale</a:t>
            </a:r>
          </a:p>
          <a:p>
            <a:pPr>
              <a:lnSpc>
                <a:spcPct val="115000"/>
              </a:lnSpc>
              <a:spcAft>
                <a:spcPts val="600"/>
              </a:spcAft>
            </a:pPr>
            <a:r>
              <a:rPr sz="1300">
                <a:solidFill>
                  <a:srgbClr val="FFFFFF"/>
                </a:solidFill>
                <a:latin typeface="Calibri"/>
              </a:rPr>
              <a:t>•  Waiting costs real retention — every week of delay is another cohort at the declining baseline</a:t>
            </a:r>
          </a:p>
        </p:txBody>
      </p:sp>
      <p:sp>
        <p:nvSpPr>
          <p:cNvPr id="24" name="TextBox 23"/>
          <p:cNvSpPr txBox="1"/>
          <p:nvPr/>
        </p:nvSpPr>
        <p:spPr>
          <a:xfrm>
            <a:off x="11368735" y="6400800"/>
            <a:ext cx="548640" cy="320040"/>
          </a:xfrm>
          <a:prstGeom prst="rect">
            <a:avLst/>
          </a:prstGeom>
          <a:noFill/>
        </p:spPr>
        <p:txBody>
          <a:bodyPr wrap="square" anchor="t" lIns="0" rIns="0" tIns="0" bIns="0">
            <a:spAutoFit/>
          </a:bodyPr>
          <a:lstStyle/>
          <a:p>
            <a:pPr algn="r">
              <a:lnSpc>
                <a:spcPct val="100000"/>
              </a:lnSpc>
            </a:pPr>
            <a:r>
              <a:rPr sz="1100" b="0" i="0">
                <a:solidFill>
                  <a:srgbClr val="5C7477"/>
                </a:solidFill>
                <a:latin typeface="Calibri"/>
              </a:rP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2E33"/>
        </a:solidFill>
        <a:effectLst/>
      </p:bgPr>
    </p:bg>
    <p:spTree>
      <p:nvGrpSpPr>
        <p:cNvPr id="1" name=""/>
        <p:cNvGrpSpPr/>
        <p:nvPr/>
      </p:nvGrpSpPr>
      <p:grpSpPr/>
      <p:sp>
        <p:nvSpPr>
          <p:cNvPr id="2" name="TextBox 1"/>
          <p:cNvSpPr txBox="1"/>
          <p:nvPr/>
        </p:nvSpPr>
        <p:spPr>
          <a:xfrm>
            <a:off x="640080" y="502920"/>
            <a:ext cx="5486400" cy="365760"/>
          </a:xfrm>
          <a:prstGeom prst="rect">
            <a:avLst/>
          </a:prstGeom>
          <a:noFill/>
        </p:spPr>
        <p:txBody>
          <a:bodyPr wrap="square" anchor="t" lIns="0" rIns="0" tIns="0" bIns="0">
            <a:spAutoFit/>
          </a:bodyPr>
          <a:lstStyle/>
          <a:p>
            <a:pPr algn="l">
              <a:lnSpc>
                <a:spcPct val="100000"/>
              </a:lnSpc>
            </a:pPr>
            <a:r>
              <a:rPr sz="1400" b="1" i="0">
                <a:solidFill>
                  <a:srgbClr val="02C39A"/>
                </a:solidFill>
                <a:latin typeface="Calibri"/>
              </a:rPr>
              <a:t>THE ASK</a:t>
            </a:r>
          </a:p>
        </p:txBody>
      </p:sp>
      <p:sp>
        <p:nvSpPr>
          <p:cNvPr id="3" name="TextBox 2"/>
          <p:cNvSpPr txBox="1"/>
          <p:nvPr/>
        </p:nvSpPr>
        <p:spPr>
          <a:xfrm>
            <a:off x="640080" y="1371600"/>
            <a:ext cx="10058400" cy="914400"/>
          </a:xfrm>
          <a:prstGeom prst="rect">
            <a:avLst/>
          </a:prstGeom>
          <a:noFill/>
        </p:spPr>
        <p:txBody>
          <a:bodyPr wrap="square" anchor="t" lIns="0" rIns="0" tIns="0" bIns="0">
            <a:spAutoFit/>
          </a:bodyPr>
          <a:lstStyle/>
          <a:p>
            <a:pPr algn="l">
              <a:lnSpc>
                <a:spcPct val="100000"/>
              </a:lnSpc>
            </a:pPr>
            <a:r>
              <a:rPr sz="3800" b="1" i="0">
                <a:solidFill>
                  <a:srgbClr val="FFFFFF"/>
                </a:solidFill>
                <a:latin typeface="Cambria"/>
              </a:rPr>
              <a:t>What We Need From You</a:t>
            </a:r>
          </a:p>
        </p:txBody>
      </p:sp>
      <p:sp>
        <p:nvSpPr>
          <p:cNvPr id="4" name="Rounded Rectangle 3"/>
          <p:cNvSpPr/>
          <p:nvPr/>
        </p:nvSpPr>
        <p:spPr>
          <a:xfrm>
            <a:off x="640080" y="2514600"/>
            <a:ext cx="10927080" cy="3017520"/>
          </a:xfrm>
          <a:prstGeom prst="roundRect">
            <a:avLst>
              <a:gd name="adj" fmla="val 4000"/>
            </a:avLst>
          </a:prstGeom>
          <a:solidFill>
            <a:srgbClr val="114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834640"/>
            <a:ext cx="10149840" cy="1188720"/>
          </a:xfrm>
          <a:prstGeom prst="rect">
            <a:avLst/>
          </a:prstGeom>
          <a:noFill/>
        </p:spPr>
        <p:txBody>
          <a:bodyPr wrap="square" anchor="t" lIns="0" rIns="0" tIns="0" bIns="0">
            <a:spAutoFit/>
          </a:bodyPr>
          <a:lstStyle/>
          <a:p>
            <a:pPr algn="l">
              <a:lnSpc>
                <a:spcPct val="125000"/>
              </a:lnSpc>
            </a:pPr>
            <a:r>
              <a:rPr sz="2400" b="1" i="0">
                <a:solidFill>
                  <a:srgbClr val="FFFFFF"/>
                </a:solidFill>
                <a:latin typeface="Cambria"/>
              </a:rPr>
              <a:t>Approval to move into a larger, corrected rollout of the comeback experience.</a:t>
            </a:r>
          </a:p>
        </p:txBody>
      </p:sp>
      <p:sp>
        <p:nvSpPr>
          <p:cNvPr id="6" name="TextBox 5"/>
          <p:cNvSpPr txBox="1"/>
          <p:nvPr/>
        </p:nvSpPr>
        <p:spPr>
          <a:xfrm>
            <a:off x="1005840" y="4114800"/>
            <a:ext cx="10149840" cy="1188720"/>
          </a:xfrm>
          <a:prstGeom prst="rect">
            <a:avLst/>
          </a:prstGeom>
          <a:noFill/>
        </p:spPr>
        <p:txBody>
          <a:bodyPr wrap="square" anchor="t" lIns="0" rIns="0" tIns="0" bIns="0">
            <a:spAutoFit/>
          </a:bodyPr>
          <a:lstStyle/>
          <a:p>
            <a:pPr algn="l">
              <a:lnSpc>
                <a:spcPct val="125000"/>
              </a:lnSpc>
            </a:pPr>
            <a:r>
              <a:rPr sz="2000" b="0" i="0">
                <a:solidFill>
                  <a:srgbClr val="C9E6E3"/>
                </a:solidFill>
                <a:latin typeface="Calibri"/>
              </a:rPr>
              <a:t>And a decision on timeline, so the corrected re-analysis and scale-up can be slotted into the sprint plan.</a:t>
            </a:r>
          </a:p>
        </p:txBody>
      </p:sp>
      <p:sp>
        <p:nvSpPr>
          <p:cNvPr id="7" name="TextBox 6"/>
          <p:cNvSpPr txBox="1"/>
          <p:nvPr/>
        </p:nvSpPr>
        <p:spPr>
          <a:xfrm>
            <a:off x="11368735" y="6400800"/>
            <a:ext cx="548640" cy="320040"/>
          </a:xfrm>
          <a:prstGeom prst="rect">
            <a:avLst/>
          </a:prstGeom>
          <a:noFill/>
        </p:spPr>
        <p:txBody>
          <a:bodyPr wrap="square" anchor="t" lIns="0" rIns="0" tIns="0" bIns="0">
            <a:spAutoFit/>
          </a:bodyPr>
          <a:lstStyle/>
          <a:p>
            <a:pPr algn="r">
              <a:lnSpc>
                <a:spcPct val="100000"/>
              </a:lnSpc>
            </a:pPr>
            <a:r>
              <a:rPr sz="1100" b="0" i="0">
                <a:solidFill>
                  <a:srgbClr val="FFFFFF"/>
                </a:solidFill>
                <a:latin typeface="Calibri"/>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